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7" r:id="rId1"/>
  </p:sldMasterIdLst>
  <p:sldIdLst>
    <p:sldId id="256" r:id="rId2"/>
    <p:sldId id="257" r:id="rId3"/>
    <p:sldId id="259" r:id="rId4"/>
    <p:sldId id="260"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718"/>
  </p:normalViewPr>
  <p:slideViewPr>
    <p:cSldViewPr snapToGrid="0">
      <p:cViewPr varScale="1">
        <p:scale>
          <a:sx n="117" d="100"/>
          <a:sy n="117" d="100"/>
        </p:scale>
        <p:origin x="26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GB"/>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D1DB4B54-C624-3E4C-8A7A-BAD2D4F658F6}" type="datetimeFigureOut">
              <a:rPr lang="en-US" smtClean="0"/>
              <a:t>3/13/26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99533C25-93F6-644E-B38D-C0E1A0C5EB83}"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189777573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1DB4B54-C624-3E4C-8A7A-BAD2D4F658F6}" type="datetimeFigureOut">
              <a:rPr lang="en-US" smtClean="0"/>
              <a:t>3/13/26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533C25-93F6-644E-B38D-C0E1A0C5EB83}" type="slidenum">
              <a:rPr lang="en-US" smtClean="0"/>
              <a:t>‹#›</a:t>
            </a:fld>
            <a:endParaRPr lang="en-US"/>
          </a:p>
        </p:txBody>
      </p:sp>
    </p:spTree>
    <p:extLst>
      <p:ext uri="{BB962C8B-B14F-4D97-AF65-F5344CB8AC3E}">
        <p14:creationId xmlns:p14="http://schemas.microsoft.com/office/powerpoint/2010/main" val="4018970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D1DB4B54-C624-3E4C-8A7A-BAD2D4F658F6}" type="datetimeFigureOut">
              <a:rPr lang="en-US" smtClean="0"/>
              <a:t>3/13/26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99533C25-93F6-644E-B38D-C0E1A0C5EB83}"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txBody>
          <a:bodyPr/>
          <a:lstStyle/>
          <a:p>
            <a:endParaRPr lang="en-US"/>
          </a:p>
        </p:txBody>
      </p:sp>
    </p:spTree>
    <p:extLst>
      <p:ext uri="{BB962C8B-B14F-4D97-AF65-F5344CB8AC3E}">
        <p14:creationId xmlns:p14="http://schemas.microsoft.com/office/powerpoint/2010/main" val="95203672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GB"/>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1DB4B54-C624-3E4C-8A7A-BAD2D4F658F6}" type="datetimeFigureOut">
              <a:rPr lang="en-US" smtClean="0"/>
              <a:t>3/13/26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533C25-93F6-644E-B38D-C0E1A0C5EB83}" type="slidenum">
              <a:rPr lang="en-US" smtClean="0"/>
              <a:t>‹#›</a:t>
            </a:fld>
            <a:endParaRPr lang="en-US"/>
          </a:p>
        </p:txBody>
      </p:sp>
    </p:spTree>
    <p:extLst>
      <p:ext uri="{BB962C8B-B14F-4D97-AF65-F5344CB8AC3E}">
        <p14:creationId xmlns:p14="http://schemas.microsoft.com/office/powerpoint/2010/main" val="1285550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1DB4B54-C624-3E4C-8A7A-BAD2D4F658F6}" type="datetimeFigureOut">
              <a:rPr lang="en-US" smtClean="0"/>
              <a:t>3/13/26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9533C25-93F6-644E-B38D-C0E1A0C5EB83}" type="slidenum">
              <a:rPr lang="en-US" smtClean="0"/>
              <a:t>‹#›</a:t>
            </a:fld>
            <a:endParaRPr lang="en-US"/>
          </a:p>
        </p:txBody>
      </p:sp>
    </p:spTree>
    <p:extLst>
      <p:ext uri="{BB962C8B-B14F-4D97-AF65-F5344CB8AC3E}">
        <p14:creationId xmlns:p14="http://schemas.microsoft.com/office/powerpoint/2010/main" val="3801328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1DB4B54-C624-3E4C-8A7A-BAD2D4F658F6}" type="datetimeFigureOut">
              <a:rPr lang="en-US" smtClean="0"/>
              <a:t>3/13/26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9533C25-93F6-644E-B38D-C0E1A0C5EB83}" type="slidenum">
              <a:rPr lang="en-US" smtClean="0"/>
              <a:t>‹#›</a:t>
            </a:fld>
            <a:endParaRPr lang="en-US"/>
          </a:p>
        </p:txBody>
      </p:sp>
    </p:spTree>
    <p:extLst>
      <p:ext uri="{BB962C8B-B14F-4D97-AF65-F5344CB8AC3E}">
        <p14:creationId xmlns:p14="http://schemas.microsoft.com/office/powerpoint/2010/main" val="2041263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DB4B54-C624-3E4C-8A7A-BAD2D4F658F6}" type="datetimeFigureOut">
              <a:rPr lang="en-US" smtClean="0"/>
              <a:t>3/13/26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9533C25-93F6-644E-B38D-C0E1A0C5EB83}" type="slidenum">
              <a:rPr lang="en-US" smtClean="0"/>
              <a:t>‹#›</a:t>
            </a:fld>
            <a:endParaRPr lang="en-US"/>
          </a:p>
        </p:txBody>
      </p:sp>
    </p:spTree>
    <p:extLst>
      <p:ext uri="{BB962C8B-B14F-4D97-AF65-F5344CB8AC3E}">
        <p14:creationId xmlns:p14="http://schemas.microsoft.com/office/powerpoint/2010/main" val="1719938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GB"/>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D1DB4B54-C624-3E4C-8A7A-BAD2D4F658F6}" type="datetimeFigureOut">
              <a:rPr lang="en-US" smtClean="0"/>
              <a:t>3/13/26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99533C25-93F6-644E-B38D-C0E1A0C5EB83}"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152057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D1DB4B54-C624-3E4C-8A7A-BAD2D4F658F6}" type="datetimeFigureOut">
              <a:rPr lang="en-US" smtClean="0"/>
              <a:t>3/13/26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99533C25-93F6-644E-B38D-C0E1A0C5EB83}"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392137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1DB4B54-C624-3E4C-8A7A-BAD2D4F658F6}" type="datetimeFigureOut">
              <a:rPr lang="en-US" smtClean="0"/>
              <a:t>3/13/26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533C25-93F6-644E-B38D-C0E1A0C5EB83}" type="slidenum">
              <a:rPr lang="en-US" smtClean="0"/>
              <a:t>‹#›</a:t>
            </a:fld>
            <a:endParaRPr lang="en-US"/>
          </a:p>
        </p:txBody>
      </p:sp>
    </p:spTree>
    <p:extLst>
      <p:ext uri="{BB962C8B-B14F-4D97-AF65-F5344CB8AC3E}">
        <p14:creationId xmlns:p14="http://schemas.microsoft.com/office/powerpoint/2010/main" val="667441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1DB4B54-C624-3E4C-8A7A-BAD2D4F658F6}" type="datetimeFigureOut">
              <a:rPr lang="en-US" smtClean="0"/>
              <a:t>3/13/26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533C25-93F6-644E-B38D-C0E1A0C5EB83}" type="slidenum">
              <a:rPr lang="en-US" smtClean="0"/>
              <a:t>‹#›</a:t>
            </a:fld>
            <a:endParaRPr lang="en-US"/>
          </a:p>
        </p:txBody>
      </p:sp>
    </p:spTree>
    <p:extLst>
      <p:ext uri="{BB962C8B-B14F-4D97-AF65-F5344CB8AC3E}">
        <p14:creationId xmlns:p14="http://schemas.microsoft.com/office/powerpoint/2010/main" val="1695068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D1DB4B54-C624-3E4C-8A7A-BAD2D4F658F6}" type="datetimeFigureOut">
              <a:rPr lang="en-US" smtClean="0"/>
              <a:t>3/13/26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99533C25-93F6-644E-B38D-C0E1A0C5EB83}"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053145180"/>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2D9F8-C668-590F-5E8B-3509B5E3BABC}"/>
              </a:ext>
            </a:extLst>
          </p:cNvPr>
          <p:cNvSpPr>
            <a:spLocks noGrp="1"/>
          </p:cNvSpPr>
          <p:nvPr>
            <p:ph type="ctrTitle"/>
          </p:nvPr>
        </p:nvSpPr>
        <p:spPr/>
        <p:txBody>
          <a:bodyPr/>
          <a:lstStyle/>
          <a:p>
            <a:r>
              <a:rPr lang="en-US" dirty="0"/>
              <a:t>BookVault API</a:t>
            </a:r>
          </a:p>
        </p:txBody>
      </p:sp>
      <p:sp>
        <p:nvSpPr>
          <p:cNvPr id="3" name="Subtitle 2">
            <a:extLst>
              <a:ext uri="{FF2B5EF4-FFF2-40B4-BE49-F238E27FC236}">
                <a16:creationId xmlns:a16="http://schemas.microsoft.com/office/drawing/2014/main" id="{8351284E-094D-FC27-57D2-C4DCEBEDD59D}"/>
              </a:ext>
            </a:extLst>
          </p:cNvPr>
          <p:cNvSpPr>
            <a:spLocks noGrp="1"/>
          </p:cNvSpPr>
          <p:nvPr>
            <p:ph type="subTitle" idx="1"/>
          </p:nvPr>
        </p:nvSpPr>
        <p:spPr/>
        <p:txBody>
          <a:bodyPr>
            <a:normAutofit/>
          </a:bodyPr>
          <a:lstStyle/>
          <a:p>
            <a:r>
              <a:rPr lang="en-US" dirty="0"/>
              <a:t>Matthew Hughes</a:t>
            </a:r>
          </a:p>
          <a:p>
            <a:r>
              <a:rPr lang="en-US" dirty="0"/>
              <a:t>COMP3011</a:t>
            </a:r>
          </a:p>
        </p:txBody>
      </p:sp>
    </p:spTree>
    <p:extLst>
      <p:ext uri="{BB962C8B-B14F-4D97-AF65-F5344CB8AC3E}">
        <p14:creationId xmlns:p14="http://schemas.microsoft.com/office/powerpoint/2010/main" val="2932104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45699-8A0B-366E-1CF3-90AB647138D0}"/>
              </a:ext>
            </a:extLst>
          </p:cNvPr>
          <p:cNvSpPr>
            <a:spLocks noGrp="1"/>
          </p:cNvSpPr>
          <p:nvPr>
            <p:ph type="title"/>
          </p:nvPr>
        </p:nvSpPr>
        <p:spPr>
          <a:xfrm>
            <a:off x="1371600" y="685800"/>
            <a:ext cx="9601200" cy="896257"/>
          </a:xfrm>
        </p:spPr>
        <p:txBody>
          <a:bodyPr>
            <a:normAutofit fontScale="90000"/>
          </a:bodyPr>
          <a:lstStyle/>
          <a:p>
            <a:r>
              <a:rPr lang="en-US" dirty="0"/>
              <a:t>Overview</a:t>
            </a:r>
            <a:br>
              <a:rPr lang="en-US" dirty="0"/>
            </a:br>
            <a:endParaRPr lang="en-US" dirty="0"/>
          </a:p>
        </p:txBody>
      </p:sp>
      <p:sp>
        <p:nvSpPr>
          <p:cNvPr id="3" name="Content Placeholder 2">
            <a:extLst>
              <a:ext uri="{FF2B5EF4-FFF2-40B4-BE49-F238E27FC236}">
                <a16:creationId xmlns:a16="http://schemas.microsoft.com/office/drawing/2014/main" id="{528801FB-D7C7-36BE-DA02-3DCBFF6410EF}"/>
              </a:ext>
            </a:extLst>
          </p:cNvPr>
          <p:cNvSpPr>
            <a:spLocks noGrp="1"/>
          </p:cNvSpPr>
          <p:nvPr>
            <p:ph idx="1"/>
          </p:nvPr>
        </p:nvSpPr>
        <p:spPr>
          <a:xfrm>
            <a:off x="1371600" y="1582057"/>
            <a:ext cx="9601200" cy="4285343"/>
          </a:xfrm>
        </p:spPr>
        <p:txBody>
          <a:bodyPr/>
          <a:lstStyle/>
          <a:p>
            <a:r>
              <a:rPr lang="en-US" dirty="0"/>
              <a:t>BookVault API provides a set of endpoints relating to books and their metadata. It allows users to access information from the Goodreads books dataset from Kaggle such as a book’s name, author, publication date, etc. as well as rating information such as a book’s average rating. </a:t>
            </a:r>
          </a:p>
          <a:p>
            <a:r>
              <a:rPr lang="en-US" dirty="0"/>
              <a:t>There is also an analytics section where you can request statistical data about the dataset. Endpoints include rating distribution, top publishers, most rated books, and a language breakdown.</a:t>
            </a:r>
          </a:p>
          <a:p>
            <a:r>
              <a:rPr lang="en-US" dirty="0"/>
              <a:t>I chose books for this coursework because it was part of an idea for a personal project that I intended to create. It would allow me to become more comfortable with how to handle book data.</a:t>
            </a:r>
          </a:p>
        </p:txBody>
      </p:sp>
    </p:spTree>
    <p:extLst>
      <p:ext uri="{BB962C8B-B14F-4D97-AF65-F5344CB8AC3E}">
        <p14:creationId xmlns:p14="http://schemas.microsoft.com/office/powerpoint/2010/main" val="3422816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D0F0D-7400-6343-4D55-79B4E4975C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1FB7F-D1C2-8FD5-2B70-66F1429C64D1}"/>
              </a:ext>
            </a:extLst>
          </p:cNvPr>
          <p:cNvSpPr>
            <a:spLocks noGrp="1"/>
          </p:cNvSpPr>
          <p:nvPr>
            <p:ph type="title"/>
          </p:nvPr>
        </p:nvSpPr>
        <p:spPr>
          <a:xfrm>
            <a:off x="1371600" y="685800"/>
            <a:ext cx="9601200" cy="896257"/>
          </a:xfrm>
        </p:spPr>
        <p:txBody>
          <a:bodyPr>
            <a:normAutofit fontScale="90000"/>
          </a:bodyPr>
          <a:lstStyle/>
          <a:p>
            <a:r>
              <a:rPr lang="en-US" dirty="0"/>
              <a:t>Technology Stack</a:t>
            </a:r>
            <a:br>
              <a:rPr lang="en-US" dirty="0"/>
            </a:br>
            <a:endParaRPr lang="en-US" dirty="0"/>
          </a:p>
        </p:txBody>
      </p:sp>
      <p:sp>
        <p:nvSpPr>
          <p:cNvPr id="3" name="Content Placeholder 2">
            <a:extLst>
              <a:ext uri="{FF2B5EF4-FFF2-40B4-BE49-F238E27FC236}">
                <a16:creationId xmlns:a16="http://schemas.microsoft.com/office/drawing/2014/main" id="{AD0797FE-8C83-2285-F953-3F7A2D6F3E80}"/>
              </a:ext>
            </a:extLst>
          </p:cNvPr>
          <p:cNvSpPr>
            <a:spLocks noGrp="1"/>
          </p:cNvSpPr>
          <p:nvPr>
            <p:ph idx="1"/>
          </p:nvPr>
        </p:nvSpPr>
        <p:spPr>
          <a:xfrm>
            <a:off x="1371600" y="1582057"/>
            <a:ext cx="9601200" cy="4285343"/>
          </a:xfrm>
        </p:spPr>
        <p:txBody>
          <a:bodyPr/>
          <a:lstStyle/>
          <a:p>
            <a:r>
              <a:rPr lang="en-US" dirty="0"/>
              <a:t>FastAPI was chosen over Django for a few reasons:</a:t>
            </a:r>
          </a:p>
          <a:p>
            <a:pPr lvl="1"/>
            <a:r>
              <a:rPr lang="en-US" dirty="0"/>
              <a:t>FastAPI automatically generates interactive SwaggerUI documentation.</a:t>
            </a:r>
          </a:p>
          <a:p>
            <a:pPr lvl="1"/>
            <a:r>
              <a:rPr lang="en-US" dirty="0"/>
              <a:t>Pydantic schemas make request validation easier.</a:t>
            </a:r>
          </a:p>
          <a:p>
            <a:pPr lvl="1"/>
            <a:r>
              <a:rPr lang="en-US" dirty="0"/>
              <a:t>Asynchronous request handling is more suited to modern RESTful architecture.</a:t>
            </a:r>
          </a:p>
          <a:p>
            <a:pPr lvl="1"/>
            <a:endParaRPr lang="en-US" dirty="0"/>
          </a:p>
          <a:p>
            <a:r>
              <a:rPr lang="en-US" dirty="0"/>
              <a:t>SQLite was chosen for the database as it is simple to use and does not require an external database (it is stored in a single file). This makes it ideal for a project of this scale.</a:t>
            </a:r>
          </a:p>
          <a:p>
            <a:r>
              <a:rPr lang="en-US" dirty="0"/>
              <a:t>SQLAlchemy provides an ORM layer that maps Python classes to database tables making development and debugging intuitive for this project. </a:t>
            </a:r>
          </a:p>
        </p:txBody>
      </p:sp>
    </p:spTree>
    <p:extLst>
      <p:ext uri="{BB962C8B-B14F-4D97-AF65-F5344CB8AC3E}">
        <p14:creationId xmlns:p14="http://schemas.microsoft.com/office/powerpoint/2010/main" val="3649218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98810-6FD6-39A4-5D1A-F1DE709F3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569408-6CE7-AAA4-DC56-865B765E7684}"/>
              </a:ext>
            </a:extLst>
          </p:cNvPr>
          <p:cNvSpPr>
            <a:spLocks noGrp="1"/>
          </p:cNvSpPr>
          <p:nvPr>
            <p:ph type="title"/>
          </p:nvPr>
        </p:nvSpPr>
        <p:spPr>
          <a:xfrm>
            <a:off x="1371600" y="685800"/>
            <a:ext cx="9601200" cy="896257"/>
          </a:xfrm>
        </p:spPr>
        <p:txBody>
          <a:bodyPr>
            <a:normAutofit/>
          </a:bodyPr>
          <a:lstStyle/>
          <a:p>
            <a:r>
              <a:rPr lang="en-US" dirty="0"/>
              <a:t>Architecture</a:t>
            </a:r>
          </a:p>
        </p:txBody>
      </p:sp>
      <p:sp>
        <p:nvSpPr>
          <p:cNvPr id="3" name="Content Placeholder 2">
            <a:extLst>
              <a:ext uri="{FF2B5EF4-FFF2-40B4-BE49-F238E27FC236}">
                <a16:creationId xmlns:a16="http://schemas.microsoft.com/office/drawing/2014/main" id="{BB4A1957-331D-CBDF-5E82-7326A9A93747}"/>
              </a:ext>
            </a:extLst>
          </p:cNvPr>
          <p:cNvSpPr>
            <a:spLocks noGrp="1"/>
          </p:cNvSpPr>
          <p:nvPr>
            <p:ph idx="1"/>
          </p:nvPr>
        </p:nvSpPr>
        <p:spPr>
          <a:xfrm>
            <a:off x="1371600" y="1582057"/>
            <a:ext cx="9601200" cy="4285343"/>
          </a:xfrm>
        </p:spPr>
        <p:txBody>
          <a:bodyPr/>
          <a:lstStyle/>
          <a:p>
            <a:r>
              <a:rPr lang="en-US" dirty="0"/>
              <a:t>The API uses a modular router-based architecture meaning that each resource has its own router file to separate endpoint logic for more manageable development.</a:t>
            </a:r>
          </a:p>
          <a:p>
            <a:r>
              <a:rPr lang="en-US" dirty="0"/>
              <a:t>Other components of the architecture such as authentication and database management are isolated into their own modules.</a:t>
            </a:r>
          </a:p>
          <a:p>
            <a:r>
              <a:rPr lang="en-US" dirty="0"/>
              <a:t>The main application file’s sole purpose is to initialize the app and register routes.</a:t>
            </a:r>
          </a:p>
        </p:txBody>
      </p:sp>
    </p:spTree>
    <p:extLst>
      <p:ext uri="{BB962C8B-B14F-4D97-AF65-F5344CB8AC3E}">
        <p14:creationId xmlns:p14="http://schemas.microsoft.com/office/powerpoint/2010/main" val="2077324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7ED62-9C4D-BCA3-0BD3-82EDD679C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AAE7B9-6A96-F04C-EAD8-D3CC3B818309}"/>
              </a:ext>
            </a:extLst>
          </p:cNvPr>
          <p:cNvSpPr>
            <a:spLocks noGrp="1"/>
          </p:cNvSpPr>
          <p:nvPr>
            <p:ph type="title"/>
          </p:nvPr>
        </p:nvSpPr>
        <p:spPr>
          <a:xfrm>
            <a:off x="1371600" y="685800"/>
            <a:ext cx="9601200" cy="896257"/>
          </a:xfrm>
        </p:spPr>
        <p:txBody>
          <a:bodyPr>
            <a:normAutofit/>
          </a:bodyPr>
          <a:lstStyle/>
          <a:p>
            <a:r>
              <a:rPr lang="en-US" dirty="0"/>
              <a:t>Demo</a:t>
            </a:r>
          </a:p>
        </p:txBody>
      </p:sp>
      <p:sp>
        <p:nvSpPr>
          <p:cNvPr id="3" name="Content Placeholder 2">
            <a:extLst>
              <a:ext uri="{FF2B5EF4-FFF2-40B4-BE49-F238E27FC236}">
                <a16:creationId xmlns:a16="http://schemas.microsoft.com/office/drawing/2014/main" id="{08944BAB-1758-373E-8A2A-3C6A0501D0E0}"/>
              </a:ext>
            </a:extLst>
          </p:cNvPr>
          <p:cNvSpPr>
            <a:spLocks noGrp="1"/>
          </p:cNvSpPr>
          <p:nvPr>
            <p:ph idx="1"/>
          </p:nvPr>
        </p:nvSpPr>
        <p:spPr>
          <a:xfrm>
            <a:off x="1371600" y="1582057"/>
            <a:ext cx="9601200" cy="4285343"/>
          </a:xfrm>
        </p:spPr>
        <p:txBody>
          <a:bodyPr/>
          <a:lstStyle/>
          <a:p>
            <a:pPr marL="457200" indent="-457200">
              <a:buAutoNum type="arabicPeriod"/>
            </a:pPr>
            <a:r>
              <a:rPr lang="en-US" dirty="0"/>
              <a:t>POST /users</a:t>
            </a:r>
          </a:p>
          <a:p>
            <a:pPr marL="457200" indent="-457200">
              <a:buAutoNum type="arabicPeriod"/>
            </a:pPr>
            <a:r>
              <a:rPr lang="en-US" dirty="0"/>
              <a:t>GET /books/</a:t>
            </a:r>
          </a:p>
          <a:p>
            <a:pPr marL="457200" indent="-457200">
              <a:buAutoNum type="arabicPeriod"/>
            </a:pPr>
            <a:r>
              <a:rPr lang="en-US" dirty="0"/>
              <a:t>POST /reviews</a:t>
            </a:r>
          </a:p>
          <a:p>
            <a:pPr marL="457200" indent="-457200">
              <a:buAutoNum type="arabicPeriod"/>
            </a:pPr>
            <a:r>
              <a:rPr lang="en-US" dirty="0"/>
              <a:t>GET /users/1/reviews</a:t>
            </a:r>
          </a:p>
          <a:p>
            <a:pPr marL="457200" indent="-457200">
              <a:buAutoNum type="arabicPeriod"/>
            </a:pPr>
            <a:r>
              <a:rPr lang="en-US" dirty="0"/>
              <a:t>GET /</a:t>
            </a:r>
            <a:r>
              <a:rPr lang="en-US" dirty="0" err="1"/>
              <a:t>reviews?book_id</a:t>
            </a:r>
            <a:r>
              <a:rPr lang="en-US" dirty="0"/>
              <a:t>=1</a:t>
            </a:r>
          </a:p>
          <a:p>
            <a:pPr marL="457200" indent="-457200">
              <a:buAutoNum type="arabicPeriod"/>
            </a:pPr>
            <a:r>
              <a:rPr lang="en-US" dirty="0"/>
              <a:t>GET /analytics/</a:t>
            </a:r>
          </a:p>
        </p:txBody>
      </p:sp>
    </p:spTree>
    <p:extLst>
      <p:ext uri="{BB962C8B-B14F-4D97-AF65-F5344CB8AC3E}">
        <p14:creationId xmlns:p14="http://schemas.microsoft.com/office/powerpoint/2010/main" val="3574002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4B14A-3294-E865-C21E-FBA7025594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1E1E3-2369-5C0C-2DD4-C4F50E6A77BA}"/>
              </a:ext>
            </a:extLst>
          </p:cNvPr>
          <p:cNvSpPr>
            <a:spLocks noGrp="1"/>
          </p:cNvSpPr>
          <p:nvPr>
            <p:ph type="title"/>
          </p:nvPr>
        </p:nvSpPr>
        <p:spPr>
          <a:xfrm>
            <a:off x="1371600" y="685800"/>
            <a:ext cx="9601200" cy="896257"/>
          </a:xfrm>
        </p:spPr>
        <p:txBody>
          <a:bodyPr>
            <a:normAutofit/>
          </a:bodyPr>
          <a:lstStyle/>
          <a:p>
            <a:r>
              <a:rPr lang="en-US" dirty="0"/>
              <a:t>Version Control</a:t>
            </a:r>
          </a:p>
        </p:txBody>
      </p:sp>
      <p:sp>
        <p:nvSpPr>
          <p:cNvPr id="3" name="Content Placeholder 2">
            <a:extLst>
              <a:ext uri="{FF2B5EF4-FFF2-40B4-BE49-F238E27FC236}">
                <a16:creationId xmlns:a16="http://schemas.microsoft.com/office/drawing/2014/main" id="{FFCC49FB-41FF-8D38-4209-997A65286D8D}"/>
              </a:ext>
            </a:extLst>
          </p:cNvPr>
          <p:cNvSpPr>
            <a:spLocks noGrp="1"/>
          </p:cNvSpPr>
          <p:nvPr>
            <p:ph idx="1"/>
          </p:nvPr>
        </p:nvSpPr>
        <p:spPr>
          <a:xfrm>
            <a:off x="1371600" y="1582057"/>
            <a:ext cx="9601200" cy="4285343"/>
          </a:xfrm>
        </p:spPr>
        <p:txBody>
          <a:bodyPr/>
          <a:lstStyle/>
          <a:p>
            <a:r>
              <a:rPr lang="en-US" dirty="0"/>
              <a:t>Throughout the project I used Git to incrementally commit changes, usually after every feature or fix. This way, each commit represents a unit of work, and it is easy to roll back to a previous working version to find a bug if the app stops working.</a:t>
            </a:r>
          </a:p>
          <a:p>
            <a:r>
              <a:rPr lang="en-US" dirty="0"/>
              <a:t>A git ignore file is used to remove any files that should not be committed such as .env files and .db files. </a:t>
            </a:r>
          </a:p>
          <a:p>
            <a:r>
              <a:rPr lang="en-US" dirty="0"/>
              <a:t>Database files are not committed for the purpose of keeping the repository lightweight. Since it is already easy to set up the app, it does not add much complexity to generate the database from the dataset on set up.</a:t>
            </a:r>
          </a:p>
          <a:p>
            <a:r>
              <a:rPr lang="en-US" dirty="0"/>
              <a:t>To imitate team environments, branches were used for distinct features.</a:t>
            </a:r>
          </a:p>
          <a:p>
            <a:r>
              <a:rPr lang="en-US" dirty="0"/>
              <a:t>One limitation would be that code reviews were not performed before each push or merge, which is a common practice </a:t>
            </a:r>
            <a:r>
              <a:rPr lang="en-US"/>
              <a:t>in team-based development.</a:t>
            </a:r>
            <a:endParaRPr lang="en-US" dirty="0"/>
          </a:p>
        </p:txBody>
      </p:sp>
    </p:spTree>
    <p:extLst>
      <p:ext uri="{BB962C8B-B14F-4D97-AF65-F5344CB8AC3E}">
        <p14:creationId xmlns:p14="http://schemas.microsoft.com/office/powerpoint/2010/main" val="2249047937"/>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Crop</Template>
  <TotalTime>86</TotalTime>
  <Words>475</Words>
  <Application>Microsoft Macintosh PowerPoint</Application>
  <PresentationFormat>Widescreen</PresentationFormat>
  <Paragraphs>32</Paragraphs>
  <Slides>6</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Franklin Gothic Book</vt:lpstr>
      <vt:lpstr>Crop</vt:lpstr>
      <vt:lpstr>BookVault API</vt:lpstr>
      <vt:lpstr>Overview </vt:lpstr>
      <vt:lpstr>Technology Stack </vt:lpstr>
      <vt:lpstr>Architecture</vt:lpstr>
      <vt:lpstr>Demo</vt:lpstr>
      <vt:lpstr>Version Control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 Hughes [sc22m2h]</dc:creator>
  <cp:lastModifiedBy>Matthew Hughes [sc22m2h]</cp:lastModifiedBy>
  <cp:revision>3</cp:revision>
  <dcterms:created xsi:type="dcterms:W3CDTF">2026-03-13T11:02:39Z</dcterms:created>
  <dcterms:modified xsi:type="dcterms:W3CDTF">2026-03-13T12:28:44Z</dcterms:modified>
</cp:coreProperties>
</file>